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492D"/>
                </a:solidFill>
                <a:latin typeface="Arial"/>
              </a:rPr>
              <a:t>FORJA / MVP 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EFEBE0"/>
                </a:solidFill>
                <a:latin typeface="Arial"/>
              </a:rPr>
              <a:t>Resumen de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103120"/>
            <a:ext cx="685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B8B5AC"/>
                </a:solidFill>
                <a:latin typeface="Arial"/>
              </a:rPr>
              <a:t>Hacer confiable el ciclo de coaching antes de ampliarlo.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3063240"/>
            <a:ext cx="6291072" cy="0"/>
          </a:xfrm>
          <a:prstGeom prst="line">
            <a:avLst/>
          </a:prstGeom>
          <a:ln w="254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3401568"/>
            <a:ext cx="6492240" cy="15544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BE492D"/>
                </a:solidFill>
                <a:latin typeface="Arial"/>
              </a:rPr>
              <a:t>RESULTADO  </a:t>
            </a:r>
            <a:r>
              <a:rPr sz="1600">
                <a:solidFill>
                  <a:srgbClr val="EFEBE0"/>
                </a:solidFill>
                <a:latin typeface="Arial"/>
              </a:rPr>
              <a:t>ejecución inmutable, reintentos seguros y revisión accionable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B8B5AC"/>
                </a:solidFill>
                <a:latin typeface="Arial"/>
              </a:rPr>
              <a:t>CAPACIDAD  </a:t>
            </a:r>
            <a:r>
              <a:rPr sz="1600">
                <a:solidFill>
                  <a:srgbClr val="EFEBE0"/>
                </a:solidFill>
                <a:latin typeface="Arial"/>
              </a:rPr>
              <a:t>2 desarrolladores × 6 días enfocados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B8B5AC"/>
                </a:solidFill>
                <a:latin typeface="Arial"/>
              </a:rPr>
              <a:t>ALTERNATIVA  </a:t>
            </a:r>
            <a:r>
              <a:rPr sz="1600">
                <a:solidFill>
                  <a:srgbClr val="EFEBE0"/>
                </a:solidFill>
                <a:latin typeface="Arial"/>
              </a:rPr>
              <a:t>1 desarrollador × 9–10 días enfocados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960120"/>
            <a:ext cx="3017520" cy="4480560"/>
          </a:xfrm>
          <a:prstGeom prst="rect">
            <a:avLst/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325880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47B7E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29844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E492D"/>
                </a:solidFill>
                <a:latin typeface="Arial"/>
              </a:rPr>
              <a:t>PROGRAMAR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50808" y="1581912"/>
            <a:ext cx="0" cy="402336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49640" y="2112264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47B7E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08483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8B5AC"/>
                </a:solidFill>
                <a:latin typeface="Arial"/>
              </a:rPr>
              <a:t>EJECUTAR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50808" y="2368296"/>
            <a:ext cx="0" cy="402336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49640" y="289864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47B7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871216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5A348"/>
                </a:solidFill>
                <a:latin typeface="Arial"/>
              </a:rPr>
              <a:t>DETECTAR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50808" y="3154680"/>
            <a:ext cx="0" cy="402336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49640" y="368503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47B7E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6576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8B5AC"/>
                </a:solidFill>
                <a:latin typeface="Arial"/>
              </a:rPr>
              <a:t>REVISAR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50808" y="3941064"/>
            <a:ext cx="0" cy="402336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49640" y="447141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47B7E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4439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89F75"/>
                </a:solidFill>
                <a:latin typeface="Arial"/>
              </a:rPr>
              <a:t>AJUSTAR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7395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LO QUE DEBE DEMOSTRAR EL 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Tesis del producto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EFEBE0"/>
                </a:solidFill>
                <a:latin typeface="Arial"/>
              </a:rPr>
              <a:t>Forja es el ciclo operativo entre la prescripción y el ajuste.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8833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EBE0"/>
                </a:solidFill>
                <a:latin typeface="Arial"/>
              </a:rPr>
              <a:t>PROGRAMAR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2783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5AC"/>
                </a:solidFill>
                <a:latin typeface="Arial"/>
              </a:rPr>
              <a:t>Intención del coach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14016" y="3072384"/>
            <a:ext cx="457200" cy="0"/>
          </a:xfrm>
          <a:prstGeom prst="line">
            <a:avLst/>
          </a:prstGeom>
          <a:ln w="25400">
            <a:solidFill>
              <a:srgbClr val="BE49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98648" y="251460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68833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26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EBE0"/>
                </a:solidFill>
                <a:latin typeface="Arial"/>
              </a:rPr>
              <a:t>EJECUTAR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22783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5AC"/>
                </a:solidFill>
                <a:latin typeface="Arial"/>
              </a:rPr>
              <a:t>Acción del atleta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54296" y="3072384"/>
            <a:ext cx="457200" cy="0"/>
          </a:xfrm>
          <a:prstGeom prst="line">
            <a:avLst/>
          </a:prstGeom>
          <a:ln w="25400">
            <a:solidFill>
              <a:srgbClr val="BE49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38928" y="251460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68833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926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EBE0"/>
                </a:solidFill>
                <a:latin typeface="Arial"/>
              </a:rPr>
              <a:t>DETECTAR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22783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5AC"/>
                </a:solidFill>
                <a:latin typeface="Arial"/>
              </a:rPr>
              <a:t>Desvío relevante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94576" y="3072384"/>
            <a:ext cx="457200" cy="0"/>
          </a:xfrm>
          <a:prstGeom prst="line">
            <a:avLst/>
          </a:prstGeom>
          <a:ln w="25400">
            <a:solidFill>
              <a:srgbClr val="BE49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79208" y="251460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68833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26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EBE0"/>
                </a:solidFill>
                <a:latin typeface="Arial"/>
              </a:rPr>
              <a:t>REVISAR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22783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5AC"/>
                </a:solidFill>
                <a:latin typeface="Arial"/>
              </a:rPr>
              <a:t>Criterio del coach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34856" y="3072384"/>
            <a:ext cx="457200" cy="0"/>
          </a:xfrm>
          <a:prstGeom prst="line">
            <a:avLst/>
          </a:prstGeom>
          <a:ln w="25400">
            <a:solidFill>
              <a:srgbClr val="BE49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19488" y="2514600"/>
            <a:ext cx="1755648" cy="114300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688336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9260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EBE0"/>
                </a:solidFill>
                <a:latin typeface="Arial"/>
              </a:rPr>
              <a:t>AJUSTAR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22783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B5AC"/>
                </a:solidFill>
                <a:latin typeface="Arial"/>
              </a:rPr>
              <a:t>Siguiente prescripción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343400"/>
            <a:ext cx="9966960" cy="109728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4343400"/>
            <a:ext cx="54864" cy="1097280"/>
          </a:xfrm>
          <a:prstGeom prst="rect">
            <a:avLst/>
          </a:prstGeom>
          <a:solidFill>
            <a:srgbClr val="689F75"/>
          </a:solidFill>
          <a:ln>
            <a:solidFill>
              <a:srgbClr val="689F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98448" y="4489704"/>
            <a:ext cx="9619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89F75"/>
                </a:solidFill>
                <a:latin typeface="Arial"/>
              </a:rPr>
              <a:t>PRUEBA PILOTO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481888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FEBE0"/>
                </a:solidFill>
                <a:latin typeface="Arial"/>
              </a:rPr>
              <a:t>Una sesión asignada se convierte en evidencia durable, revisión priorizada y ajuste deliberado.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MODELO DEL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Tres actores, un solo ciclo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72768"/>
            <a:ext cx="54864" cy="141732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19072"/>
            <a:ext cx="2898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DUEÑO / COMPRADOR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48256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FEBE0"/>
                </a:solidFill>
                <a:latin typeface="Arial"/>
              </a:rPr>
              <a:t>Comprende el estado operativo
y confía en el uso continuo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72768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572768"/>
            <a:ext cx="54864" cy="1417320"/>
          </a:xfrm>
          <a:prstGeom prst="rect">
            <a:avLst/>
          </a:prstGeom>
          <a:solidFill>
            <a:srgbClr val="D5A348"/>
          </a:solidFill>
          <a:ln>
            <a:solidFill>
              <a:srgbClr val="D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719072"/>
            <a:ext cx="2898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A348"/>
                </a:solidFill>
                <a:latin typeface="Arial"/>
              </a:rPr>
              <a:t>COACH OPERADOR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048256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FEBE0"/>
                </a:solidFill>
                <a:latin typeface="Arial"/>
              </a:rPr>
              <a:t>Prescribe, detecta, revisa
y ajusta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572768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572768"/>
            <a:ext cx="54864" cy="1417320"/>
          </a:xfrm>
          <a:prstGeom prst="rect">
            <a:avLst/>
          </a:prstGeom>
          <a:solidFill>
            <a:srgbClr val="689F75"/>
          </a:solidFill>
          <a:ln>
            <a:solidFill>
              <a:srgbClr val="689F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1719072"/>
            <a:ext cx="2898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89F75"/>
                </a:solidFill>
                <a:latin typeface="Arial"/>
              </a:rPr>
              <a:t>ATLETA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048256"/>
            <a:ext cx="2880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FEBE0"/>
                </a:solidFill>
                <a:latin typeface="Arial"/>
              </a:rPr>
              <a:t>Ejecuta y registra
con fricción mínima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3246120"/>
            <a:ext cx="7543800" cy="0"/>
          </a:xfrm>
          <a:prstGeom prst="line">
            <a:avLst/>
          </a:prstGeom>
          <a:ln w="254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63040" y="3063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8B5AC"/>
                </a:solidFill>
                <a:latin typeface="Arial"/>
              </a:rPr>
              <a:t>comprender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063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8B5AC"/>
                </a:solidFill>
                <a:latin typeface="Arial"/>
              </a:rPr>
              <a:t>prescribir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06324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B8B5AC"/>
                </a:solidFill>
                <a:latin typeface="Arial"/>
              </a:rPr>
              <a:t>← evidencia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9776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E492D"/>
                </a:solidFill>
                <a:latin typeface="Arial"/>
              </a:rPr>
              <a:t>Regla de optimización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7083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EFEBE0"/>
                </a:solidFill>
                <a:latin typeface="Arial"/>
              </a:rPr>
              <a:t>Nunca mejorar la experiencia de un actor debilitando la confianza de otro en los mismos datos.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303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B5AC"/>
                </a:solidFill>
                <a:latin typeface="Arial"/>
              </a:rPr>
              <a:t>Los equipos importan cuando son necesarios. La multitenencia empresarial no demuestra este piloto.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EVIDENCIA, NO ASPIRACIÓN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Recorridos y capacidades actuales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492D"/>
                </a:solidFill>
                <a:latin typeface="Arial"/>
              </a:rPr>
              <a:t>COACH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75103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Inicio de sesión + autorización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32887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33471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Panel + atletas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191256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Planificación + marcas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49624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5020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Historial + E/S de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417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492D"/>
                </a:solidFill>
                <a:latin typeface="Arial"/>
              </a:rPr>
              <a:t>ATLETA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1874519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1975103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Activación PIN / OTP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2532887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2633471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Entrenamiento de hoy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2272" y="3191256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3291840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Registro de series + día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2272" y="3849624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395020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Vista de progreso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1417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492D"/>
                </a:solidFill>
                <a:latin typeface="Arial"/>
              </a:rPr>
              <a:t>SISTEMA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6" y="1874519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1975103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Drizzle / libSQL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66176" y="2532887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2633471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Auth.js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6176" y="3191256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0768" y="3291840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Evolution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66176" y="3849624"/>
            <a:ext cx="3246120" cy="475488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395020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Cola offline parcial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846320"/>
            <a:ext cx="10881360" cy="822960"/>
          </a:xfrm>
          <a:prstGeom prst="rect">
            <a:avLst/>
          </a:prstGeom>
          <a:solidFill>
            <a:srgbClr val="793021"/>
          </a:solidFill>
          <a:ln>
            <a:solidFill>
              <a:srgbClr val="793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EFEBE0"/>
                </a:solidFill>
                <a:latin typeface="Arial"/>
              </a:rPr>
              <a:t>La base es suficiente. El límite del piloto es la integridad y el foco operativo, no la cantidad de funciones.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DÓNDE APARECE EL ACOPLAMIENTO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Arquitectura actual del sistema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283464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54864" cy="96012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55064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RUTAS / ACCIONES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FEBE0"/>
                </a:solidFill>
                <a:latin typeface="Arial"/>
              </a:rPr>
              <a:t>Superficies App Router de coach + atleta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508760"/>
            <a:ext cx="283464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54864" cy="960120"/>
          </a:xfrm>
          <a:prstGeom prst="rect">
            <a:avLst/>
          </a:prstGeom>
          <a:solidFill>
            <a:srgbClr val="D5A348"/>
          </a:solidFill>
          <a:ln>
            <a:solidFill>
              <a:srgbClr val="D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1655064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A348"/>
                </a:solidFill>
                <a:latin typeface="Arial"/>
              </a:rPr>
              <a:t>GRAFO DEL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9842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FEBE0"/>
                </a:solidFill>
                <a:latin typeface="Arial"/>
              </a:rPr>
              <a:t>programa → semana → día → ejercicio → serie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508760"/>
            <a:ext cx="283464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41080" y="1508760"/>
            <a:ext cx="54864" cy="96012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2248" y="1655064"/>
            <a:ext cx="2487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LECTURAS HISTÓRICAS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19842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FEBE0"/>
                </a:solidFill>
                <a:latin typeface="Arial"/>
              </a:rPr>
              <a:t>registros unidos mediante un plan mutable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20440" y="1993392"/>
            <a:ext cx="1143000" cy="0"/>
          </a:xfrm>
          <a:prstGeom prst="line">
            <a:avLst/>
          </a:prstGeom>
          <a:ln w="25400">
            <a:solidFill>
              <a:srgbClr val="747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79" y="1993392"/>
            <a:ext cx="1143001" cy="0"/>
          </a:xfrm>
          <a:prstGeom prst="line">
            <a:avLst/>
          </a:prstGeom>
          <a:ln w="25400">
            <a:solidFill>
              <a:srgbClr val="747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77639" y="2871216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E492D"/>
                </a:solidFill>
                <a:latin typeface="Arial"/>
              </a:rPr>
              <a:t>RIESGO DE CASCADA / MUTACIÓN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3310128"/>
            <a:ext cx="6263640" cy="1005840"/>
          </a:xfrm>
          <a:prstGeom prst="rect">
            <a:avLst/>
          </a:prstGeom>
          <a:solidFill>
            <a:srgbClr val="1D2022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3575304"/>
            <a:ext cx="5715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FEBE0"/>
                </a:solidFill>
                <a:latin typeface="Arial"/>
              </a:rPr>
              <a:t>El rendimiento completado no tiene una instantánea de sesión independiente.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663440"/>
            <a:ext cx="5486400" cy="11887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D5A348"/>
                </a:solidFill>
                <a:latin typeface="Arial"/>
              </a:rPr>
              <a:t>ADEMÁS  </a:t>
            </a:r>
            <a:r>
              <a:rPr sz="1300">
                <a:solidFill>
                  <a:srgbClr val="EFEBE0"/>
                </a:solidFill>
                <a:latin typeface="Arial"/>
              </a:rPr>
              <a:t>las transacciones y restricciones están incompletas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D5A348"/>
                </a:solidFill>
                <a:latin typeface="Arial"/>
              </a:rPr>
              <a:t>ADEMÁS  </a:t>
            </a:r>
            <a:r>
              <a:rPr sz="1300">
                <a:solidFill>
                  <a:srgbClr val="EFEBE0"/>
                </a:solidFill>
                <a:latin typeface="Arial"/>
              </a:rPr>
              <a:t>los reintentos offline carecen de un contrato idempotente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D5A348"/>
                </a:solidFill>
                <a:latin typeface="Arial"/>
              </a:rPr>
              <a:t>ADEMÁS  </a:t>
            </a:r>
            <a:r>
              <a:rPr sz="1300">
                <a:solidFill>
                  <a:srgbClr val="EFEBE0"/>
                </a:solidFill>
                <a:latin typeface="Arial"/>
              </a:rPr>
              <a:t>las semánticas de calendario y pendientes divergen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SIN REESCRITURA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Bases que debemos conservar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6304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63040"/>
            <a:ext cx="54864" cy="96012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934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FEBE0"/>
                </a:solidFill>
                <a:latin typeface="Arial"/>
              </a:rPr>
              <a:t>Next.js 16 · TypeScript · Tailwind v4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46304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463040"/>
            <a:ext cx="54864" cy="960120"/>
          </a:xfrm>
          <a:prstGeom prst="rect">
            <a:avLst/>
          </a:prstGeom>
          <a:solidFill>
            <a:srgbClr val="D5A348"/>
          </a:solidFill>
          <a:ln>
            <a:solidFill>
              <a:srgbClr val="D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0934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A348"/>
                </a:solidFill>
                <a:latin typeface="Arial"/>
              </a:rPr>
              <a:t>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3852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FEBE0"/>
                </a:solidFill>
                <a:latin typeface="Arial"/>
              </a:rPr>
              <a:t>Drizzle + libSQL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78892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2788920"/>
            <a:ext cx="54864" cy="960120"/>
          </a:xfrm>
          <a:prstGeom prst="rect">
            <a:avLst/>
          </a:prstGeom>
          <a:solidFill>
            <a:srgbClr val="689F75"/>
          </a:solidFill>
          <a:ln>
            <a:solidFill>
              <a:srgbClr val="689F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3522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89F75"/>
                </a:solidFill>
                <a:latin typeface="Arial"/>
              </a:rPr>
              <a:t>IDENTIDAD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6440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FEBE0"/>
                </a:solidFill>
                <a:latin typeface="Arial"/>
              </a:rPr>
              <a:t>Auth.js + propiedad verificada en servidor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278892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2788920"/>
            <a:ext cx="54864" cy="96012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93522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ACTIVACIÓN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6440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FEBE0"/>
                </a:solidFill>
                <a:latin typeface="Arial"/>
              </a:rPr>
              <a:t>OTP de WhatsApp vía Evolution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11480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4114800"/>
            <a:ext cx="54864" cy="960120"/>
          </a:xfrm>
          <a:prstGeom prst="rect">
            <a:avLst/>
          </a:prstGeom>
          <a:solidFill>
            <a:srgbClr val="D5A348"/>
          </a:solidFill>
          <a:ln>
            <a:solidFill>
              <a:srgbClr val="D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26110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A348"/>
                </a:solidFill>
                <a:latin typeface="Arial"/>
              </a:rPr>
              <a:t>OPERACIONES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9028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FEBE0"/>
                </a:solidFill>
                <a:latin typeface="Arial"/>
              </a:rPr>
              <a:t>Puente Excel + cola offline parcial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411480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36792" y="4114800"/>
            <a:ext cx="54864" cy="960120"/>
          </a:xfrm>
          <a:prstGeom prst="rect">
            <a:avLst/>
          </a:prstGeom>
          <a:solidFill>
            <a:srgbClr val="689F75"/>
          </a:solidFill>
          <a:ln>
            <a:solidFill>
              <a:srgbClr val="689F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261104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89F75"/>
                </a:solidFill>
                <a:latin typeface="Arial"/>
              </a:rPr>
              <a:t>DOMINIO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590288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FEBE0"/>
                </a:solidFill>
                <a:latin typeface="Arial"/>
              </a:rPr>
              <a:t>Jerarquía del programa + marcas de fuerza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EFEBE0"/>
                </a:solidFill>
                <a:latin typeface="Arial"/>
              </a:rPr>
              <a:t>Dirección: monolito modular con operaciones explícitas de dominio, no nuevas unidades de despliegue.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BLOQUEANTES DEL 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Brechas críticas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E492D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17320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FEBE0"/>
                </a:solidFill>
                <a:latin typeface="Arial"/>
              </a:rPr>
              <a:t>Plan mutable ↔ historial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1051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5AC"/>
                </a:solidFill>
                <a:latin typeface="Arial"/>
              </a:rPr>
              <a:t>Pérdida de datos / evidencia reescrita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25880" y="2203704"/>
            <a:ext cx="434340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55080" y="14904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E492D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417320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FEBE0"/>
                </a:solidFill>
                <a:latin typeface="Arial"/>
              </a:rPr>
              <a:t>Sin instantáneas de sesión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810512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5AC"/>
                </a:solidFill>
                <a:latin typeface="Arial"/>
              </a:rPr>
              <a:t>No hay agregado durable de ejecución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60" y="2203704"/>
            <a:ext cx="434340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28437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E492D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77063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FEBE0"/>
                </a:solidFill>
                <a:latin typeface="Arial"/>
              </a:rPr>
              <a:t>Garantías débiles de escritura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6382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5AC"/>
                </a:solidFill>
                <a:latin typeface="Arial"/>
              </a:rPr>
              <a:t>Riesgo de reintento, parcialidad y duplicación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25880" y="3557016"/>
            <a:ext cx="434340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55080" y="28437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E492D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77063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FEBE0"/>
                </a:solidFill>
                <a:latin typeface="Arial"/>
              </a:rPr>
              <a:t>El panel no es una bandeja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16382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5AC"/>
                </a:solidFill>
                <a:latin typeface="Arial"/>
              </a:rPr>
              <a:t>Conteos sin siguiente acción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95160" y="3557016"/>
            <a:ext cx="434340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41970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E492D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123944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FEBE0"/>
                </a:solidFill>
                <a:latin typeface="Arial"/>
              </a:rPr>
              <a:t>%RM sin resolver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5171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5AC"/>
                </a:solidFill>
                <a:latin typeface="Arial"/>
              </a:rPr>
              <a:t>Prescripción ambigua al ejecutar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25880" y="4910328"/>
            <a:ext cx="434340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55080" y="41970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E492D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123944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EFEBE0"/>
                </a:solidFill>
                <a:latin typeface="Arial"/>
              </a:rPr>
              <a:t>Evidencia de lanzamiento incompleta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51713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5AC"/>
                </a:solidFill>
                <a:latin typeface="Arial"/>
              </a:rPr>
              <a:t>Brechas de CI, E2E, restauración y operación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95160" y="4910328"/>
            <a:ext cx="434340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85800" y="5504688"/>
            <a:ext cx="10789920" cy="438912"/>
          </a:xfrm>
          <a:prstGeom prst="rect">
            <a:avLst/>
          </a:prstGeom>
          <a:solidFill>
            <a:srgbClr val="793021"/>
          </a:solidFill>
          <a:ln>
            <a:solidFill>
              <a:srgbClr val="793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86984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FEBE0"/>
                </a:solidFill>
                <a:latin typeface="Arial"/>
              </a:rPr>
              <a:t>Detención obligatoria: no hay piloto si historial, idempotencia, autorización, migración o restauración están en rojo.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LO OBLIGATORIO PREVALECE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Límite del MVP piloto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89F75"/>
                </a:solidFill>
                <a:latin typeface="Arial"/>
              </a:rPr>
              <a:t>DEBE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4160520" cy="3840480"/>
          </a:xfrm>
          <a:prstGeom prst="rect">
            <a:avLst/>
          </a:prstGeom>
          <a:solidFill>
            <a:srgbClr val="1D2022"/>
          </a:solidFill>
          <a:ln>
            <a:solidFill>
              <a:srgbClr val="689F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89F75"/>
                </a:solidFill>
                <a:latin typeface="Arial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048256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Instantáneas de sesión + rendimiento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89F75"/>
                </a:solidFill>
                <a:latin typeface="Arial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551176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Estados + transiciones seguras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89F75"/>
                </a:solidFill>
                <a:latin typeface="Arial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3054096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Transacciones + idempotencia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89F75"/>
                </a:solidFill>
                <a:latin typeface="Arial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557016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Bandeja + calendario canónico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89F75"/>
                </a:solidFill>
                <a:latin typeface="Arial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4059936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Instantánea %RM + logout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720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89F75"/>
                </a:solidFill>
                <a:latin typeface="Arial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4562856"/>
            <a:ext cx="3474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Migración / restauración / E2E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7" y="14173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5A348"/>
                </a:solidFill>
                <a:latin typeface="Arial"/>
              </a:rPr>
              <a:t>DEBERÍA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8927" y="1810512"/>
            <a:ext cx="3246120" cy="3840480"/>
          </a:xfrm>
          <a:prstGeom prst="rect">
            <a:avLst/>
          </a:prstGeom>
          <a:solidFill>
            <a:srgbClr val="1D2022"/>
          </a:solidFill>
          <a:ln>
            <a:solidFill>
              <a:srgbClr val="D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20574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5A348"/>
                </a:solidFill>
                <a:latin typeface="Arial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7" y="204825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EBE0"/>
                </a:solidFill>
                <a:latin typeface="Arial"/>
              </a:rPr>
              <a:t>Duplicar unidades del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56032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5A348"/>
                </a:solidFill>
                <a:latin typeface="Arial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7" y="255117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EBE0"/>
                </a:solidFill>
                <a:latin typeface="Arial"/>
              </a:rPr>
              <a:t>Confirmación de revisión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06324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5A348"/>
                </a:solidFill>
                <a:latin typeface="Arial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7" y="305409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EBE0"/>
                </a:solidFill>
                <a:latin typeface="Arial"/>
              </a:rPr>
              <a:t>Estado del sistema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56616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5A348"/>
                </a:solidFill>
                <a:latin typeface="Arial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41847" y="355701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EBE0"/>
                </a:solidFill>
                <a:latin typeface="Arial"/>
              </a:rPr>
              <a:t>Edición de series más rápida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8" y="14173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47B7E"/>
                </a:solidFill>
                <a:latin typeface="Arial"/>
              </a:rPr>
              <a:t>DESPUÉS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05088" y="1810512"/>
            <a:ext cx="3063240" cy="3840480"/>
          </a:xfrm>
          <a:prstGeom prst="rect">
            <a:avLst/>
          </a:prstGeom>
          <a:solidFill>
            <a:srgbClr val="1D2022"/>
          </a:solidFill>
          <a:ln>
            <a:solidFill>
              <a:srgbClr val="747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20574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47B7E"/>
                </a:solidFill>
                <a:latin typeface="Arial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8008" y="2048256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EBE0"/>
                </a:solidFill>
                <a:latin typeface="Arial"/>
              </a:rPr>
              <a:t>Multitenencia empresarial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56032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47B7E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2551176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EBE0"/>
                </a:solidFill>
                <a:latin typeface="Arial"/>
              </a:rPr>
              <a:t>IA / chat / nutrición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06324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47B7E"/>
                </a:solidFill>
                <a:latin typeface="Arial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8008" y="3054096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EBE0"/>
                </a:solidFill>
                <a:latin typeface="Arial"/>
              </a:rPr>
              <a:t>Facturación / marketplace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56616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47B7E"/>
                </a:solidFill>
                <a:latin typeface="Arial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08008" y="3557016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EBE0"/>
                </a:solidFill>
                <a:latin typeface="Arial"/>
              </a:rPr>
              <a:t>Rebranding final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DOS FRENTES, INTEGRACIÓN DIARIA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Ejecución paralela en seis días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DÍA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298448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DESARROLLADOR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298448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DESARROLLADOR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1298448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64208"/>
            <a:ext cx="10927080" cy="530352"/>
          </a:xfrm>
          <a:prstGeom prst="rect">
            <a:avLst/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76479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492D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764792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Esquema + ciclo de vida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6479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Semántica + fixtures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176479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89F75"/>
                </a:solidFill>
                <a:latin typeface="Arial"/>
              </a:rPr>
              <a:t>contrato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359152"/>
            <a:ext cx="10927080" cy="530352"/>
          </a:xfrm>
          <a:prstGeom prst="rect">
            <a:avLst/>
          </a:prstGeom>
          <a:solidFill>
            <a:srgbClr val="141617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45973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492D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459736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Comandos transaccionales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459736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Atleta + adaptador offline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245973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89F75"/>
                </a:solidFill>
                <a:latin typeface="Arial"/>
              </a:rPr>
              <a:t>guardado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54096"/>
            <a:ext cx="10927080" cy="530352"/>
          </a:xfrm>
          <a:prstGeom prst="rect">
            <a:avLst/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1546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492D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15468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Lecturas de instantáneas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15468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Resolución %RM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3154680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89F75"/>
                </a:solidFill>
                <a:latin typeface="Arial"/>
              </a:rPr>
              <a:t>historial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749040"/>
            <a:ext cx="10927080" cy="530352"/>
          </a:xfrm>
          <a:prstGeom prst="rect">
            <a:avLst/>
          </a:prstGeom>
          <a:solidFill>
            <a:srgbClr val="141617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84962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492D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849624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Bandeja del coach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849624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Alineación de calendario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384962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89F75"/>
                </a:solidFill>
                <a:latin typeface="Arial"/>
              </a:rPr>
              <a:t>revisión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443984"/>
            <a:ext cx="10927080" cy="530352"/>
          </a:xfrm>
          <a:prstGeom prst="rect">
            <a:avLst/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5445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492D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544568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Revisión + planificación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544568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Logout + robustez de 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45445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89F75"/>
                </a:solidFill>
                <a:latin typeface="Arial"/>
              </a:rPr>
              <a:t>recorrido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38928"/>
            <a:ext cx="10927080" cy="530352"/>
          </a:xfrm>
          <a:prstGeom prst="rect">
            <a:avLst/>
          </a:prstGeom>
          <a:solidFill>
            <a:srgbClr val="141617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" y="523951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BE492D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239512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Migración + recuperación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523951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FEBE0"/>
                </a:solidFill>
                <a:latin typeface="Arial"/>
              </a:rPr>
              <a:t>E2E + accesibilidad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52395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689F75"/>
                </a:solidFill>
                <a:latin typeface="Arial"/>
              </a:rPr>
              <a:t>evidencia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98932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8B5AC"/>
                </a:solidFill>
                <a:latin typeface="Arial"/>
              </a:rPr>
              <a:t>Alternativa con una persona: 9–10 días · mismo orden · quitar primero lo opcional.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EJECUCIÓN INMUTABLE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Dominio y modelo de datos objetivo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92608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54864" cy="96012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63624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PROGRAMA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FEBE0"/>
                </a:solidFill>
                <a:latin typeface="Arial"/>
              </a:rPr>
              <a:t>draft → published → archived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16352"/>
            <a:ext cx="2926080" cy="9601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16352"/>
            <a:ext cx="54864" cy="960120"/>
          </a:xfrm>
          <a:prstGeom prst="rect">
            <a:avLst/>
          </a:prstGeom>
          <a:solidFill>
            <a:srgbClr val="D5A348"/>
          </a:solidFill>
          <a:ln>
            <a:solidFill>
              <a:srgbClr val="D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962656"/>
            <a:ext cx="2578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5A348"/>
                </a:solidFill>
                <a:latin typeface="Arial"/>
              </a:rPr>
              <a:t>VERSIÓN DEL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291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FEBE0"/>
                </a:solidFill>
                <a:latin typeface="Arial"/>
              </a:rPr>
              <a:t>día / ejercicio / serie planificados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48840" y="2377440"/>
            <a:ext cx="0" cy="438912"/>
          </a:xfrm>
          <a:prstGeom prst="line">
            <a:avLst/>
          </a:prstGeom>
          <a:ln w="25400">
            <a:solidFill>
              <a:srgbClr val="747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11880" y="3291840"/>
            <a:ext cx="960120" cy="0"/>
          </a:xfrm>
          <a:prstGeom prst="line">
            <a:avLst/>
          </a:prstGeom>
          <a:ln w="25400">
            <a:solidFill>
              <a:srgbClr val="BE49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0" y="2148840"/>
            <a:ext cx="3063240" cy="141732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148840"/>
            <a:ext cx="54864" cy="1417320"/>
          </a:xfrm>
          <a:prstGeom prst="rect">
            <a:avLst/>
          </a:prstGeom>
          <a:solidFill>
            <a:srgbClr val="689F75"/>
          </a:solidFill>
          <a:ln>
            <a:solidFill>
              <a:srgbClr val="689F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2295144"/>
            <a:ext cx="2715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89F75"/>
                </a:solidFill>
                <a:latin typeface="Arial"/>
              </a:rPr>
              <a:t>WORKOUT_SESSIONS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2624328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FEBE0"/>
                </a:solidFill>
                <a:latin typeface="Arial"/>
              </a:rPr>
              <a:t>scheduled → in_progress → completed → reviewed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35240" y="2852928"/>
            <a:ext cx="960120" cy="0"/>
          </a:xfrm>
          <a:prstGeom prst="line">
            <a:avLst/>
          </a:prstGeom>
          <a:ln w="25400">
            <a:solidFill>
              <a:srgbClr val="BE49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95360" y="1737360"/>
            <a:ext cx="2880360" cy="2240280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1737360"/>
            <a:ext cx="54864" cy="224028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96528" y="1883664"/>
            <a:ext cx="253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SET_PERFORMANCES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2212848"/>
            <a:ext cx="2514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FEBE0"/>
                </a:solidFill>
                <a:latin typeface="Arial"/>
              </a:rPr>
              <a:t>instantánea de prescripción
carga resuelta + ejecución
desvíos + clave de operación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72000"/>
            <a:ext cx="10241280" cy="11430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BE492D"/>
                </a:solidFill>
                <a:latin typeface="Arial"/>
              </a:rPr>
              <a:t>INVARIANTE  </a:t>
            </a:r>
            <a:r>
              <a:rPr sz="1400">
                <a:solidFill>
                  <a:srgbClr val="EFEBE0"/>
                </a:solidFill>
                <a:latin typeface="Arial"/>
              </a:rPr>
              <a:t>editar el plan nunca reescribe evidencia completada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D5A348"/>
                </a:solidFill>
                <a:latin typeface="Arial"/>
              </a:rPr>
              <a:t>REINTENTO  </a:t>
            </a:r>
            <a:r>
              <a:rPr sz="1400">
                <a:solidFill>
                  <a:srgbClr val="EFEBE0"/>
                </a:solidFill>
                <a:latin typeface="Arial"/>
              </a:rPr>
              <a:t>la clave estable devuelve el resultado aceptado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689F75"/>
                </a:solidFill>
                <a:latin typeface="Arial"/>
              </a:rPr>
              <a:t>COMMIT  </a:t>
            </a:r>
            <a:r>
              <a:rPr sz="1400">
                <a:solidFill>
                  <a:srgbClr val="EFEBE0"/>
                </a:solidFill>
                <a:latin typeface="Arial"/>
              </a:rPr>
              <a:t>rendimientos + cierre + evento de bandeja son atómicos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EVIDENCIA ANTES DEL PILOTO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Verificación y condiciones de salida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074920" cy="896112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61848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2763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56362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E492D"/>
                </a:solidFill>
                <a:latin typeface="Arial"/>
              </a:rPr>
              <a:t>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5623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Migración + restricciones + restauración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417320"/>
            <a:ext cx="5074920" cy="896112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01384" y="161848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D5A348"/>
          </a:solidFill>
          <a:ln>
            <a:solidFill>
              <a:srgbClr val="D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2763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156362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5A348"/>
                </a:solidFill>
                <a:latin typeface="Arial"/>
              </a:rPr>
              <a:t>COMANDO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185623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Duplicación + fallo parcial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651760"/>
            <a:ext cx="5074920" cy="896112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285292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689F75"/>
          </a:solidFill>
          <a:ln>
            <a:solidFill>
              <a:srgbClr val="689F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86207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7980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89F75"/>
                </a:solidFill>
                <a:latin typeface="Arial"/>
              </a:rPr>
              <a:t>HISTORIAL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09067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Cambiar el plan no altera la instantánea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2651760"/>
            <a:ext cx="5074920" cy="896112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01384" y="285292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286207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27980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E492D"/>
                </a:solidFill>
                <a:latin typeface="Arial"/>
              </a:rPr>
              <a:t>ACCESO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309067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Rechazo cruzado + sesión cerrada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886200"/>
            <a:ext cx="5074920" cy="896112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0392" y="408736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D5A348"/>
          </a:solidFill>
          <a:ln>
            <a:solidFill>
              <a:srgbClr val="D5A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09651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03250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5A348"/>
                </a:solidFill>
                <a:latin typeface="Arial"/>
              </a:rPr>
              <a:t>RECORRIDO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3251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Publicar → ejecutar → revisar → ajustar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36792" y="3886200"/>
            <a:ext cx="5074920" cy="896112"/>
          </a:xfrm>
          <a:prstGeom prst="roundRect">
            <a:avLst>
              <a:gd name="adj" fmla="val 8000"/>
            </a:avLst>
          </a:prstGeom>
          <a:solidFill>
            <a:srgbClr val="1D2022"/>
          </a:solidFill>
          <a:ln>
            <a:solidFill>
              <a:srgbClr val="464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01384" y="4087368"/>
            <a:ext cx="475488" cy="475488"/>
          </a:xfrm>
          <a:prstGeom prst="roundRect">
            <a:avLst>
              <a:gd name="adj" fmla="val 8000"/>
            </a:avLst>
          </a:prstGeom>
          <a:solidFill>
            <a:srgbClr val="689F75"/>
          </a:solidFill>
          <a:ln>
            <a:solidFill>
              <a:srgbClr val="689F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1384" y="409651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59752" y="403250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89F75"/>
                </a:solidFill>
                <a:latin typeface="Arial"/>
              </a:rPr>
              <a:t>OPERACIÓN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9752" y="4325112"/>
            <a:ext cx="3886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FEBE0"/>
                </a:solidFill>
                <a:latin typeface="Arial"/>
              </a:rPr>
              <a:t>Build + smoke + ensayo de rollback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5303520"/>
            <a:ext cx="10744200" cy="566928"/>
          </a:xfrm>
          <a:prstGeom prst="rect">
            <a:avLst/>
          </a:prstGeom>
          <a:solidFill>
            <a:srgbClr val="793021"/>
          </a:solidFill>
          <a:ln>
            <a:solidFill>
              <a:srgbClr val="793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9824"/>
            <a:ext cx="10287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EFEBE0"/>
                </a:solidFill>
                <a:latin typeface="Arial"/>
              </a:rPr>
              <a:t>La decisión es binaria: todo lo obligatorio en verde o reducir alcance y repetir la evidencia.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492D"/>
          </a:solidFill>
          <a:ln>
            <a:solidFill>
              <a:srgbClr val="BE4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E492D"/>
                </a:solidFill>
                <a:latin typeface="Arial"/>
              </a:rPr>
              <a:t>PRIMER MOVIMIENTO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FEBE0"/>
                </a:solidFill>
                <a:latin typeface="Arial"/>
              </a:rPr>
              <a:t>Traspaso y punto de partida recomendado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37960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47B7E"/>
                </a:solidFill>
                <a:latin typeface="Arial"/>
              </a:rPr>
              <a:t>Guía para desarrollo · MVP 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B8B5AC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EFEBE0"/>
                </a:solidFill>
                <a:latin typeface="Arial"/>
              </a:rPr>
              <a:t>Empezar por el contrato de ejecución, no por el panel.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492D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3055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FEBE0"/>
                </a:solidFill>
                <a:latin typeface="Arial"/>
              </a:rPr>
              <a:t>Fijar el fixture piloto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4884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B5AC"/>
                </a:solidFill>
                <a:latin typeface="Arial"/>
              </a:rPr>
              <a:t>actor, calendario, %RM, desviación y reintento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2532888"/>
            <a:ext cx="955548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8072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492D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88920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FEBE0"/>
                </a:solidFill>
                <a:latin typeface="Arial"/>
              </a:rPr>
              <a:t>Agregar instantáneas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0720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B5AC"/>
                </a:solidFill>
                <a:latin typeface="Arial"/>
              </a:rPr>
              <a:t>sesión + rendimiento + restricciones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3191256"/>
            <a:ext cx="955548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9808" y="34655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492D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4728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FEBE0"/>
                </a:solidFill>
                <a:latin typeface="Arial"/>
              </a:rPr>
              <a:t>Controlar los comandos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465576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B5AC"/>
                </a:solidFill>
                <a:latin typeface="Arial"/>
              </a:rPr>
              <a:t>autorización + transacción + idempotencia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7320" y="3849624"/>
            <a:ext cx="955548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8" y="41239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492D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05656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FEBE0"/>
                </a:solidFill>
                <a:latin typeface="Arial"/>
              </a:rPr>
              <a:t>Migrar las proyecciones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123944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B5AC"/>
                </a:solidFill>
                <a:latin typeface="Arial"/>
              </a:rPr>
              <a:t>primero historial, luego bandeja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17320" y="4507992"/>
            <a:ext cx="955548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47823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492D"/>
                </a:solidFill>
                <a:latin typeface="Arial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764024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FEBE0"/>
                </a:solidFill>
                <a:latin typeface="Arial"/>
              </a:rPr>
              <a:t>Demostrar el lanzamiento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78231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B5AC"/>
                </a:solidFill>
                <a:latin typeface="Arial"/>
              </a:rPr>
              <a:t>migración + recuperación + recorrido completo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17320" y="5166360"/>
            <a:ext cx="9555480" cy="0"/>
          </a:xfrm>
          <a:prstGeom prst="line">
            <a:avLst/>
          </a:prstGeom>
          <a:ln w="12700">
            <a:solidFill>
              <a:srgbClr val="464C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092440" y="5440680"/>
            <a:ext cx="3063240" cy="566928"/>
          </a:xfrm>
          <a:prstGeom prst="rect">
            <a:avLst/>
          </a:prstGeom>
          <a:solidFill>
            <a:srgbClr val="689F75"/>
          </a:solidFill>
          <a:ln>
            <a:solidFill>
              <a:srgbClr val="689F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557784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Arial"/>
              </a:rPr>
              <a:t>SIGUIENTE: CONTRATO DEL DÍA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para desarrollo del MVP de Forja</dc:title>
  <dc:subject>Arquitectura, límite, ejecución y verificación del MVP piloto</dc:subject>
  <dc:creator>Equipo de desarrollo de Forja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