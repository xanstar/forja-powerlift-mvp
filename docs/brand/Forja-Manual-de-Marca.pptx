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7668000" y="0"/>
            <a:ext cx="4524120" cy="6858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66800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576000" y="522000"/>
            <a:ext cx="3150000" cy="12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594000" y="2268000"/>
            <a:ext cx="5940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pc="181" strike="noStrike">
                <a:solidFill>
                  <a:srgbClr val="D93636"/>
                </a:solidFill>
                <a:effectLst/>
                <a:uFillTx/>
                <a:latin typeface="Arial"/>
              </a:rPr>
              <a:t>MANUAL DE MARCA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76000" y="2556000"/>
            <a:ext cx="6516000" cy="12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2000"/>
              </a:lnSpc>
            </a:pPr>
            <a:r>
              <a:rPr lang="en-US" sz="3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Precisión que convierte el esfuerzo en progreso.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94000" y="4104000"/>
            <a:ext cx="5580000" cy="3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6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Sistema visual y criterios de aplicación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280000" y="1116000"/>
            <a:ext cx="302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pc="111" strike="noStrike">
                <a:solidFill>
                  <a:srgbClr val="F4F1EA"/>
                </a:solidFill>
                <a:effectLst/>
                <a:uFillTx/>
                <a:latin typeface="Arial"/>
              </a:rPr>
              <a:t>DISCIPLINA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8280000" y="1458000"/>
            <a:ext cx="3168000" cy="0"/>
          </a:xfrm>
          <a:prstGeom prst="line">
            <a:avLst/>
          </a:prstGeom>
          <a:ln w="90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280000" y="1800000"/>
            <a:ext cx="302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pc="111" strike="noStrike">
                <a:solidFill>
                  <a:srgbClr val="F4F1EA"/>
                </a:solidFill>
                <a:effectLst/>
                <a:uFillTx/>
                <a:latin typeface="Arial"/>
              </a:rPr>
              <a:t>EVIDENCIA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280000" y="2142000"/>
            <a:ext cx="3168000" cy="0"/>
          </a:xfrm>
          <a:prstGeom prst="line">
            <a:avLst/>
          </a:prstGeom>
          <a:ln w="90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280000" y="2484000"/>
            <a:ext cx="302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pc="111" strike="noStrike">
                <a:solidFill>
                  <a:srgbClr val="F4F1EA"/>
                </a:solidFill>
                <a:effectLst/>
                <a:uFillTx/>
                <a:latin typeface="Arial"/>
              </a:rPr>
              <a:t>PROGRESO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280000" y="2826000"/>
            <a:ext cx="3168000" cy="0"/>
          </a:xfrm>
          <a:prstGeom prst="line">
            <a:avLst/>
          </a:prstGeom>
          <a:ln w="90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280000" y="3168000"/>
            <a:ext cx="302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pc="111" strike="noStrike">
                <a:solidFill>
                  <a:srgbClr val="F4F1EA"/>
                </a:solidFill>
                <a:effectLst/>
                <a:uFillTx/>
                <a:latin typeface="Arial"/>
              </a:rPr>
              <a:t>RENDIMIENTO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8280000" y="5688000"/>
            <a:ext cx="3024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Versión 1.0 · Agosto de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01 · FUNDAMENTOS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Una marca construida sobre evidencia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04000" y="972000"/>
            <a:ext cx="10260000" cy="3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6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Forja acompaña el ciclo completo del entrenamiento con una voz precisa, sobria y orientada al rendimiento.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04000" y="1530000"/>
            <a:ext cx="2610000" cy="1566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4000" y="1530000"/>
            <a:ext cx="43200" cy="156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66000" y="166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26000" y="1666800"/>
            <a:ext cx="1962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DISCIPLINA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66000" y="1933200"/>
            <a:ext cx="2286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Constancia que construye resultados.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330000" y="1530000"/>
            <a:ext cx="2610000" cy="1566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330000" y="1530000"/>
            <a:ext cx="43200" cy="156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492000" y="166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852000" y="1666800"/>
            <a:ext cx="1962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EVIDENCIA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492000" y="1933200"/>
            <a:ext cx="2286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Decisiones basadas en datos y registro.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156000" y="1530000"/>
            <a:ext cx="2610000" cy="1566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156000" y="1530000"/>
            <a:ext cx="43200" cy="156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318000" y="166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678000" y="1666800"/>
            <a:ext cx="1962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PROGRESO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318000" y="1933200"/>
            <a:ext cx="2286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Mejora continua, sesión tras sesión.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982000" y="1530000"/>
            <a:ext cx="2610000" cy="1566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982000" y="1530000"/>
            <a:ext cx="43200" cy="156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4000" y="166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504000" y="1666800"/>
            <a:ext cx="1962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RENDIMIENTO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144000" y="1933200"/>
            <a:ext cx="2286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4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Expresar tu mejor versión.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04000" y="3636000"/>
            <a:ext cx="11088000" cy="1764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56000" y="3906000"/>
            <a:ext cx="18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TONO VISUAL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56000" y="4194000"/>
            <a:ext cx="2880000" cy="4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4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Preciso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428000" y="4194000"/>
            <a:ext cx="2880000" cy="4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4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Sobrio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704000" y="4194000"/>
            <a:ext cx="3528000" cy="48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US" sz="20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Orientado al rendimiento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56000" y="4734000"/>
            <a:ext cx="288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Jerarquía clara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428000" y="4734000"/>
            <a:ext cx="288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Sin ruido ornamental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704000" y="4734000"/>
            <a:ext cx="342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Datos que conducen la acción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02 · SISTEMA DE LOGO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Logo principal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04000" y="972000"/>
            <a:ext cx="10080000" cy="57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La composición horizontal aprobada es la firma primaria. El arte no se reconstruye: se usa desde el archivo de producción.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04000" y="1512000"/>
            <a:ext cx="7272000" cy="3528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1494000" y="2286000"/>
            <a:ext cx="5292000" cy="211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8280000" y="1512000"/>
            <a:ext cx="3312000" cy="3528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550000" y="17820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COMPOSICIÓN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550000" y="2160000"/>
            <a:ext cx="2700000" cy="3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Llama roja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550000" y="2358000"/>
            <a:ext cx="270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sobre barra compacta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550000" y="2682000"/>
            <a:ext cx="2682000" cy="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-48600" rIns="93600" bIns="-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550000" y="2970000"/>
            <a:ext cx="2700000" cy="3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Wordmark Forja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50000" y="3168000"/>
            <a:ext cx="270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en Azul Forja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550000" y="3492000"/>
            <a:ext cx="2682000" cy="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-48600" rIns="93600" bIns="-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550000" y="3780000"/>
            <a:ext cx="2700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Archivo maestro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50000" y="397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forja-lockup-source.png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02 · SISTEMA DE LOGO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Versiones aprobadas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04000" y="972000"/>
            <a:ext cx="1008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Cada versión resuelve un contexto real sin modificar geometría, proporción ni color.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04000" y="1440000"/>
            <a:ext cx="5328000" cy="1836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1422000" y="1710000"/>
            <a:ext cx="3492000" cy="13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648000" y="3024000"/>
            <a:ext cx="144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POSITIVA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264000" y="1440000"/>
            <a:ext cx="5328000" cy="1836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7182000" y="1674000"/>
            <a:ext cx="3492000" cy="13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"/>
          <p:cNvSpPr txBox="1"/>
          <p:nvPr/>
        </p:nvSpPr>
        <p:spPr>
          <a:xfrm>
            <a:off x="6408000" y="30240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NEGATIVA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04000" y="3672000"/>
            <a:ext cx="3312000" cy="198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3"/>
          <a:stretch/>
        </p:blipFill>
        <p:spPr>
          <a:xfrm>
            <a:off x="1476000" y="3834000"/>
            <a:ext cx="1368000" cy="136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648000" y="5364000"/>
            <a:ext cx="198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MARCA / ÍCONO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320000" y="3762000"/>
            <a:ext cx="1836000" cy="32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Positiva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320000" y="4014000"/>
            <a:ext cx="1836000" cy="67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1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Fondos Blanco Hueso o blanco. Es la aplicación preferida.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624000" y="3762000"/>
            <a:ext cx="1836000" cy="32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Negativa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624000" y="4014000"/>
            <a:ext cx="1836000" cy="86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1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Sobre Azul Forja, la llama permanece roja; barra y wordmark pasan a Blanco Hueso.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928000" y="3762000"/>
            <a:ext cx="1836000" cy="32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Marca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928000" y="4014000"/>
            <a:ext cx="2340000" cy="67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1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Sólo para favicon, ícono de aplicación y espacios donde el wordmark no resulte legible.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02 · SISTEMA DE LOGO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Protección, proporción y tamaño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04000" y="972000"/>
            <a:ext cx="10512000" cy="54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La guía se apoya en rasgos observables del arte y en tamaños ya verificados en el producto; no declara una retícula de construcción inexistente.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04000" y="1512000"/>
            <a:ext cx="6984000" cy="331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116000" y="1980000"/>
            <a:ext cx="5760000" cy="2304000"/>
          </a:xfrm>
          <a:prstGeom prst="rect">
            <a:avLst/>
          </a:prstGeom>
          <a:solidFill>
            <a:srgbClr val="E6E5E1"/>
          </a:solidFill>
          <a:ln w="12600">
            <a:solidFill>
              <a:srgbClr val="D93636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1656000" y="2376000"/>
            <a:ext cx="4680000" cy="18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 txBox="1"/>
          <p:nvPr/>
        </p:nvSpPr>
        <p:spPr>
          <a:xfrm>
            <a:off x="720000" y="4518000"/>
            <a:ext cx="270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91" strike="noStrike">
                <a:solidFill>
                  <a:srgbClr val="D93636"/>
                </a:solidFill>
                <a:effectLst/>
                <a:uFillTx/>
                <a:latin typeface="Arial"/>
              </a:rPr>
              <a:t>ÁREA DE PROTECCIÓN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956000" y="1548000"/>
            <a:ext cx="3528000" cy="101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Mantener un margen libre continuo. Como referencia visual, usar al menos el diámetro del extremo de la barra presente en el propio símbolo.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956000" y="2538000"/>
            <a:ext cx="3528000" cy="0"/>
          </a:xfrm>
          <a:prstGeom prst="line">
            <a:avLst/>
          </a:prstGeom>
          <a:ln w="90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956000" y="2772000"/>
            <a:ext cx="1872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1" strike="noStrike">
                <a:solidFill>
                  <a:srgbClr val="D93636"/>
                </a:solidFill>
                <a:effectLst/>
                <a:uFillTx/>
                <a:latin typeface="Arial"/>
              </a:rPr>
              <a:t>TAMAÑO DIGITAL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956000" y="3006000"/>
            <a:ext cx="2808000" cy="4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112–180 px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956000" y="3348000"/>
            <a:ext cx="3528000" cy="73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15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Rango del lockup ya verificado en las superficies actuales. Por debajo, usar la marca aprobada sólo en contextos de ícono.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956000" y="4320000"/>
            <a:ext cx="3528000" cy="0"/>
          </a:xfrm>
          <a:prstGeom prst="line">
            <a:avLst/>
          </a:prstGeom>
          <a:ln w="90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956000" y="4554000"/>
            <a:ext cx="144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1" strike="noStrike">
                <a:solidFill>
                  <a:srgbClr val="D93636"/>
                </a:solidFill>
                <a:effectLst/>
                <a:uFillTx/>
                <a:latin typeface="Arial"/>
              </a:rPr>
              <a:t>REGLA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956000" y="4770000"/>
            <a:ext cx="3528000" cy="70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Escalar siempre de forma proporcional. Si el wordmark pierde legibilidad, cambiar de versión; nunca comprimir.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03 · COLOR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Paleta y uso digital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04000" y="972000"/>
            <a:ext cx="10440000" cy="56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5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Cuatro colores construyen la identidad. Los tonos auxiliares sólo derivan estados interactivos o semánticos y nunca reemplazan a los canónicos.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04000" y="1440000"/>
            <a:ext cx="2646000" cy="1512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66000" y="1602000"/>
            <a:ext cx="23220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Azul Forja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66000" y="2628000"/>
            <a:ext cx="2322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Arial"/>
              </a:rPr>
              <a:t>#10294B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330000" y="1440000"/>
            <a:ext cx="2646000" cy="1512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492000" y="1602000"/>
            <a:ext cx="23220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3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Blanco Hueso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492000" y="2628000"/>
            <a:ext cx="2322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pc="51" strike="noStrike">
                <a:solidFill>
                  <a:srgbClr val="10294B"/>
                </a:solidFill>
                <a:effectLst/>
                <a:uFillTx/>
                <a:latin typeface="Arial"/>
              </a:rPr>
              <a:t>#F4F1EA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156000" y="1440000"/>
            <a:ext cx="2646000" cy="1512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318000" y="1602000"/>
            <a:ext cx="23220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Rojo Impulso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318000" y="2628000"/>
            <a:ext cx="2322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Arial"/>
              </a:rPr>
              <a:t>#D93636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8982000" y="1440000"/>
            <a:ext cx="2610000" cy="1512000"/>
          </a:xfrm>
          <a:prstGeom prst="rect">
            <a:avLst/>
          </a:prstGeom>
          <a:solidFill>
            <a:srgbClr val="A7AFB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9144000" y="1602000"/>
            <a:ext cx="228600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3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Gris Niebla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9144000" y="2628000"/>
            <a:ext cx="228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pc="51" strike="noStrike">
                <a:solidFill>
                  <a:srgbClr val="10294B"/>
                </a:solidFill>
                <a:effectLst/>
                <a:uFillTx/>
                <a:latin typeface="Arial"/>
              </a:rPr>
              <a:t>#A7AFBA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04000" y="3348000"/>
            <a:ext cx="3384000" cy="1944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04000" y="3348000"/>
            <a:ext cx="43200" cy="1944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66000" y="3484800"/>
            <a:ext cx="2736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ACCIÓN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66000" y="3751200"/>
            <a:ext cx="3060000" cy="145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Rojo Impulso con texto blanco para la acción primaria. Reservarlo para decisiones y desvíos.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104000" y="3348000"/>
            <a:ext cx="3384000" cy="1944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4104000" y="3348000"/>
            <a:ext cx="43200" cy="1944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266000" y="3484800"/>
            <a:ext cx="2736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10294B"/>
                </a:solidFill>
                <a:effectLst/>
                <a:uFillTx/>
                <a:latin typeface="Arial"/>
              </a:rPr>
              <a:t>ESTRUCTURA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266000" y="3751200"/>
            <a:ext cx="3060000" cy="145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Azul Forja para marca, texto principal, navegación y tarjetas métricas de alta jerarquía.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704000" y="3348000"/>
            <a:ext cx="3888000" cy="1944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704000" y="3348000"/>
            <a:ext cx="43200" cy="1944000"/>
          </a:xfrm>
          <a:prstGeom prst="rect">
            <a:avLst/>
          </a:prstGeom>
          <a:solidFill>
            <a:srgbClr val="A7AFB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866000" y="3484800"/>
            <a:ext cx="324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ACCESIBILIDAD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866000" y="3751200"/>
            <a:ext cx="3564000" cy="145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Texto normal: contraste mínimo 4,5:1. Controles, íconos y texto grande: 3:1. No comunicar estados sólo por color; sumar etiqueta, forma o posición.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04 · TIPOGRAFÍA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Tipografía funcional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04000" y="972000"/>
            <a:ext cx="1044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Inter es la voz del sistema: precisa en titulares, estable en formularios y legible en datos densos.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04000" y="1440000"/>
            <a:ext cx="2880000" cy="11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</a:pPr>
            <a:r>
              <a:rPr lang="en-US" sz="70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Aa</a:t>
            </a:r>
            <a:endParaRPr lang="en-US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12000" y="2610000"/>
            <a:ext cx="2880000" cy="4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Inter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12000" y="2916000"/>
            <a:ext cx="2952000" cy="44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Familia principal · fallback compatible sans-serif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852000" y="1440000"/>
            <a:ext cx="7740000" cy="396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140000" y="1674000"/>
            <a:ext cx="252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Título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660000" y="1602000"/>
            <a:ext cx="4536000" cy="48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4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Entrená con evidencia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660000" y="1944000"/>
            <a:ext cx="396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60" strike="noStrike">
                <a:solidFill>
                  <a:srgbClr val="526075"/>
                </a:solidFill>
                <a:effectLst/>
                <a:uFillTx/>
                <a:latin typeface="Arial"/>
              </a:rPr>
              <a:t>INTER BOLD · 48/56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140000" y="2268000"/>
            <a:ext cx="7164000" cy="0"/>
          </a:xfrm>
          <a:prstGeom prst="line">
            <a:avLst/>
          </a:prstGeom>
          <a:ln w="9000">
            <a:solidFill>
              <a:srgbClr val="E6E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140000" y="2520000"/>
            <a:ext cx="252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Subtítulo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660000" y="2448000"/>
            <a:ext cx="4536000" cy="3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6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Progreso de la sesión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660000" y="2736000"/>
            <a:ext cx="396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60" strike="noStrike">
                <a:solidFill>
                  <a:srgbClr val="526075"/>
                </a:solidFill>
                <a:effectLst/>
                <a:uFillTx/>
                <a:latin typeface="Arial"/>
              </a:rPr>
              <a:t>INTER SEMIBOLD · 24/32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4140000" y="3060000"/>
            <a:ext cx="7164000" cy="0"/>
          </a:xfrm>
          <a:prstGeom prst="line">
            <a:avLst/>
          </a:prstGeom>
          <a:ln w="9000">
            <a:solidFill>
              <a:srgbClr val="E6E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140000" y="3312000"/>
            <a:ext cx="252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Cuerpo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660000" y="3258000"/>
            <a:ext cx="4320000" cy="510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35000"/>
              </a:lnSpc>
            </a:pPr>
            <a:r>
              <a:rPr lang="en-US" sz="110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Registrá cada serie para revisar la carga y tomar la próxima decisión con datos claros.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660000" y="3762000"/>
            <a:ext cx="396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60" strike="noStrike">
                <a:solidFill>
                  <a:srgbClr val="526075"/>
                </a:solidFill>
                <a:effectLst/>
                <a:uFillTx/>
                <a:latin typeface="Arial"/>
              </a:rPr>
              <a:t>INTER REGULAR · 16/24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140000" y="4086000"/>
            <a:ext cx="7164000" cy="0"/>
          </a:xfrm>
          <a:prstGeom prst="line">
            <a:avLst/>
          </a:prstGeom>
          <a:ln w="9000">
            <a:solidFill>
              <a:srgbClr val="E6E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140000" y="4356000"/>
            <a:ext cx="252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Botón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660000" y="4302000"/>
            <a:ext cx="2304000" cy="48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660000" y="4420800"/>
            <a:ext cx="2304000" cy="2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Guardar sesión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216000" y="4456800"/>
            <a:ext cx="208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51" strike="noStrike">
                <a:solidFill>
                  <a:srgbClr val="526075"/>
                </a:solidFill>
                <a:effectLst/>
                <a:uFillTx/>
                <a:latin typeface="Arial"/>
              </a:rPr>
              <a:t>INTER SEMIBOLD · 14/20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05 · SISTEMA VISUAL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Iconografía y lenguaje gráfico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04000" y="972000"/>
            <a:ext cx="10512000" cy="56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5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La interfaz se organiza como una hoja de trabajo: reglas nítidas, numerales dominantes y señales que siempre acompañan texto.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04000" y="1494000"/>
            <a:ext cx="3456000" cy="18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04000" y="1494000"/>
            <a:ext cx="43200" cy="1800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66000" y="1630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026000" y="1630800"/>
            <a:ext cx="2808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ICONOGRAFÍA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66000" y="1897200"/>
            <a:ext cx="3132000" cy="13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Trazos simples y consistentes. Tamaños de 16–24 px. El ícono aclara una acción; no reemplaza su etiqueta.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176000" y="1494000"/>
            <a:ext cx="3456000" cy="18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176000" y="1494000"/>
            <a:ext cx="43200" cy="1800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338000" y="1630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698000" y="1630800"/>
            <a:ext cx="2808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10294B"/>
                </a:solidFill>
                <a:effectLst/>
                <a:uFillTx/>
                <a:latin typeface="Arial"/>
              </a:rPr>
              <a:t>REGLAS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338000" y="1897200"/>
            <a:ext cx="3132000" cy="13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Bordes completos y líneas horizontales estructuran tablas, módulos y formularios. Sin sombras decorativas.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848000" y="1494000"/>
            <a:ext cx="3744000" cy="18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848000" y="1494000"/>
            <a:ext cx="43200" cy="1800000"/>
          </a:xfrm>
          <a:prstGeom prst="rect">
            <a:avLst/>
          </a:prstGeom>
          <a:solidFill>
            <a:srgbClr val="A7AFB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010000" y="1630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370000" y="1630800"/>
            <a:ext cx="3096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010000" y="1897200"/>
            <a:ext cx="3420000" cy="13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Cargas, repeticiones, sets y tiempos usan cifras tabulares y una jerarquía mayor que la iconografía.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504000" y="3690000"/>
            <a:ext cx="11088000" cy="1692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56000" y="3978000"/>
            <a:ext cx="720000" cy="532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7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476000" y="4014000"/>
            <a:ext cx="18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A7AFBA"/>
                </a:solidFill>
                <a:effectLst/>
                <a:uFillTx/>
                <a:latin typeface="Arial"/>
              </a:rPr>
              <a:t>SESIÓN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476000" y="4266000"/>
            <a:ext cx="2232000" cy="36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7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Sentadilla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960000" y="3924000"/>
            <a:ext cx="0" cy="1224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320000" y="3942000"/>
            <a:ext cx="1440000" cy="64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34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120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320000" y="4428000"/>
            <a:ext cx="144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850" b="1" u="none" spc="99" strike="noStrike">
                <a:solidFill>
                  <a:srgbClr val="A7AFBA"/>
                </a:solidFill>
                <a:effectLst/>
                <a:uFillTx/>
                <a:latin typeface="Arial"/>
              </a:rPr>
              <a:t>KG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6120000" y="3924000"/>
            <a:ext cx="0" cy="1224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480000" y="4050000"/>
            <a:ext cx="1800000" cy="49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2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5 × 5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80000" y="4428000"/>
            <a:ext cx="180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85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SERIES × REPS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9000000" y="4050000"/>
            <a:ext cx="1980000" cy="504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9000000" y="4183200"/>
            <a:ext cx="1980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Registrar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06 · PRODUCTO DIGITAL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Componentes, tokens y tema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09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04000" y="972000"/>
            <a:ext cx="10620000" cy="32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45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Los componentes traducen la marca en decisiones visibles y conservan su jerarquía en tema claro, oscuro o del sistema.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504000" y="1440000"/>
            <a:ext cx="3420000" cy="38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38000" y="1674000"/>
            <a:ext cx="18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ACCIONES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38000" y="2016000"/>
            <a:ext cx="2592000" cy="486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38000" y="2142000"/>
            <a:ext cx="2592000" cy="2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Guardar sesión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38000" y="2718000"/>
            <a:ext cx="2592000" cy="486000"/>
          </a:xfrm>
          <a:prstGeom prst="rect">
            <a:avLst/>
          </a:prstGeom>
          <a:solidFill>
            <a:srgbClr val="FFFFFF"/>
          </a:solidFill>
          <a:ln w="9000">
            <a:solidFill>
              <a:srgbClr val="10294B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38000" y="2844000"/>
            <a:ext cx="2592000" cy="2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10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Ver historial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38000" y="3528000"/>
            <a:ext cx="2736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30000"/>
              </a:lnSpc>
            </a:pPr>
            <a:r>
              <a:rPr lang="en-US" sz="11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Primaria: Rojo Impulso. Secundaria: papel y borde Azul Forja. Altura táctil mínima: 44 px.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176000" y="1440000"/>
            <a:ext cx="3420000" cy="3888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"/>
          <p:cNvPicPr/>
          <p:nvPr/>
        </p:nvPicPr>
        <p:blipFill>
          <a:blip r:embed="rId1"/>
          <a:stretch/>
        </p:blipFill>
        <p:spPr>
          <a:xfrm>
            <a:off x="6678000" y="1566000"/>
            <a:ext cx="666000" cy="66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"/>
          <p:cNvSpPr txBox="1"/>
          <p:nvPr/>
        </p:nvSpPr>
        <p:spPr>
          <a:xfrm>
            <a:off x="4410000" y="1674000"/>
            <a:ext cx="180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TEMA OSCURO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410000" y="2034000"/>
            <a:ext cx="216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VOLUMEN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4410000" y="2232000"/>
            <a:ext cx="2736000" cy="59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31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4.250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410000" y="2682000"/>
            <a:ext cx="2520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kg registrados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4410000" y="3024000"/>
            <a:ext cx="2880000" cy="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-48600" rIns="93600" bIns="-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410000" y="3294000"/>
            <a:ext cx="216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RPE MEDIO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410000" y="3492000"/>
            <a:ext cx="2736000" cy="59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31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7,8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410000" y="4176000"/>
            <a:ext cx="2772000" cy="64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5000"/>
              </a:lnSpc>
            </a:pPr>
            <a:r>
              <a:rPr lang="en-US" sz="10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Azul Forja como lienzo; superficies elevadas azul suave, texto Hueso y logo negativo.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848000" y="1440000"/>
            <a:ext cx="3744000" cy="3888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8082000" y="1674000"/>
            <a:ext cx="234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MÓDULO DE CICLO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082000" y="2034000"/>
            <a:ext cx="39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568000" y="2008800"/>
            <a:ext cx="2412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Programar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280000" y="2214000"/>
            <a:ext cx="0" cy="252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8082000" y="2592000"/>
            <a:ext cx="39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568000" y="2566800"/>
            <a:ext cx="2412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Ejecutar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280000" y="2772000"/>
            <a:ext cx="0" cy="252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082000" y="3150000"/>
            <a:ext cx="39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568000" y="3124800"/>
            <a:ext cx="2412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Detectar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8280000" y="3330000"/>
            <a:ext cx="0" cy="252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8082000" y="3708000"/>
            <a:ext cx="39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568000" y="3682800"/>
            <a:ext cx="2412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Revisar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280000" y="3888000"/>
            <a:ext cx="0" cy="252000"/>
          </a:xfrm>
          <a:prstGeom prst="line">
            <a:avLst/>
          </a:prstGeom>
          <a:ln w="720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tIns="48600" rIns="93600" bIns="48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082000" y="4266000"/>
            <a:ext cx="396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568000" y="4240800"/>
            <a:ext cx="2412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Ajustar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07 · CONTEXTOS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Aplicaciones clave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04000" y="972000"/>
            <a:ext cx="1026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La marca se expresa en tres momentos del producto: preparar, registrar y revisar.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504000" y="1440000"/>
            <a:ext cx="3456000" cy="385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504000" y="1440000"/>
            <a:ext cx="43200" cy="3852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66000" y="157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026000" y="1576800"/>
            <a:ext cx="2808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D93636"/>
                </a:solidFill>
                <a:effectLst/>
                <a:uFillTx/>
                <a:latin typeface="Arial"/>
              </a:rPr>
              <a:t>ENTRENAMIENTO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66000" y="1843200"/>
            <a:ext cx="3132000" cy="336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La siguiente acción domina. Carga, repeticiones y descanso se leen de inmediato. Los controles respetan el uso táctil.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38000" y="3312000"/>
            <a:ext cx="2988000" cy="1620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18000" y="3510000"/>
            <a:ext cx="180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PRÓXIMA SERIE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18000" y="3726000"/>
            <a:ext cx="2412000" cy="44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22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5 × 120 kg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918000" y="4158000"/>
            <a:ext cx="2232000" cy="414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18000" y="4262400"/>
            <a:ext cx="2232000" cy="25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Registrar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176000" y="1440000"/>
            <a:ext cx="3456000" cy="385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176000" y="1440000"/>
            <a:ext cx="43200" cy="3852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338000" y="157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698000" y="1576800"/>
            <a:ext cx="2808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10294B"/>
                </a:solidFill>
                <a:effectLst/>
                <a:uFillTx/>
                <a:latin typeface="Arial"/>
              </a:rPr>
              <a:t>REGISTRO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338000" y="1843200"/>
            <a:ext cx="3132000" cy="336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Los formularios funcionan como hojas de evidencia: campos rectos, etiquetas claras y una sola acción primaria.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410000" y="3312000"/>
            <a:ext cx="2988000" cy="43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554000" y="3427200"/>
            <a:ext cx="1980000" cy="2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117,5 kg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410000" y="3924000"/>
            <a:ext cx="2988000" cy="43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554000" y="4039200"/>
            <a:ext cx="1980000" cy="2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5 repeticiones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7848000" y="1440000"/>
            <a:ext cx="3744000" cy="3852000"/>
          </a:xfrm>
          <a:prstGeom prst="rect">
            <a:avLst/>
          </a:prstGeom>
          <a:solidFill>
            <a:srgbClr val="FFFFFF"/>
          </a:solidFill>
          <a:ln w="9000">
            <a:solidFill>
              <a:srgbClr val="A7AFBA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7848000" y="1440000"/>
            <a:ext cx="43200" cy="3852000"/>
          </a:xfrm>
          <a:prstGeom prst="rect">
            <a:avLst/>
          </a:prstGeom>
          <a:solidFill>
            <a:srgbClr val="A7AFB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8010000" y="1576800"/>
            <a:ext cx="414000" cy="26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10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8370000" y="1576800"/>
            <a:ext cx="3096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79" strike="noStrike">
                <a:solidFill>
                  <a:srgbClr val="A7AFBA"/>
                </a:solidFill>
                <a:effectLst/>
                <a:uFillTx/>
                <a:latin typeface="Arial"/>
              </a:rPr>
              <a:t>REVISIÓN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010000" y="1843200"/>
            <a:ext cx="3420000" cy="336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La comparación plan versus ejecución usa filas, reglas y estados escritos. El color orienta, pero nunca es la única señal.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082000" y="3312000"/>
            <a:ext cx="3276000" cy="1332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8262000" y="3492000"/>
            <a:ext cx="108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PLAN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262000" y="3708000"/>
            <a:ext cx="1188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120 kg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756000" y="3492000"/>
            <a:ext cx="1080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HECHO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9756000" y="3708000"/>
            <a:ext cx="1404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117,5 kg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9756000" y="4086000"/>
            <a:ext cx="1296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50" b="1" u="none" spc="71" strike="noStrike">
                <a:solidFill>
                  <a:srgbClr val="D93636"/>
                </a:solidFill>
                <a:effectLst/>
                <a:uFillTx/>
                <a:latin typeface="Arial"/>
              </a:rPr>
              <a:t>REVISAR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1EA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08 · GUARDAS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Uso correcto e incorrecto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1029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526075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11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04000" y="1080000"/>
            <a:ext cx="5328000" cy="439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286B4F"/>
            </a:solidFill>
            <a:round/>
          </a:ln>
        </p:spPr>
        <p:txBody>
          <a:bodyPr lIns="97200" tIns="52200" rIns="97200" bIns="52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38000" y="1314000"/>
            <a:ext cx="198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286B4F"/>
                </a:solidFill>
                <a:effectLst/>
                <a:uFillTx/>
                <a:latin typeface="Arial"/>
              </a:rPr>
              <a:t>CORRECTO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"/>
          <p:cNvPicPr/>
          <p:nvPr/>
        </p:nvPicPr>
        <p:blipFill>
          <a:blip r:embed="rId1"/>
          <a:stretch/>
        </p:blipFill>
        <p:spPr>
          <a:xfrm>
            <a:off x="1296000" y="1710000"/>
            <a:ext cx="3744000" cy="149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"/>
          <p:cNvSpPr txBox="1"/>
          <p:nvPr/>
        </p:nvSpPr>
        <p:spPr>
          <a:xfrm>
            <a:off x="738000" y="3366000"/>
            <a:ext cx="4536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✓ Mantener proporción y área libre.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38000" y="3690000"/>
            <a:ext cx="4536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✓ Usar los archivos aprobados y los colores canónicos.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38000" y="4086000"/>
            <a:ext cx="4536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✓ Asegurar legibilidad y contraste en cada superficie.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38000" y="4482000"/>
            <a:ext cx="4536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✓ Preferir el lockup; reservar la marca para íconos.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264000" y="1080000"/>
            <a:ext cx="5328000" cy="439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D93636"/>
            </a:solidFill>
            <a:round/>
          </a:ln>
        </p:spPr>
        <p:txBody>
          <a:bodyPr lIns="97200" tIns="52200" rIns="97200" bIns="52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498000" y="1314000"/>
            <a:ext cx="198000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900" b="1" u="none" spc="99" strike="noStrike">
                <a:solidFill>
                  <a:srgbClr val="D93636"/>
                </a:solidFill>
                <a:effectLst/>
                <a:uFillTx/>
                <a:latin typeface="Arial"/>
              </a:rPr>
              <a:t>INCORRECTO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76000" y="1674000"/>
            <a:ext cx="4104000" cy="1278000"/>
          </a:xfrm>
          <a:prstGeom prst="rect">
            <a:avLst/>
          </a:prstGeom>
          <a:solidFill>
            <a:srgbClr val="E6E5E1"/>
          </a:solidFill>
          <a:ln w="9000">
            <a:solidFill>
              <a:srgbClr val="D93636"/>
            </a:solidFill>
            <a:round/>
          </a:ln>
        </p:spPr>
        <p:txBody>
          <a:bodyPr lIns="94320" tIns="49320" rIns="94320" bIns="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236000" y="2016000"/>
            <a:ext cx="3384000" cy="54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2800" b="1" u="none" spc="201" strike="noStrike">
                <a:solidFill>
                  <a:srgbClr val="D93636"/>
                </a:solidFill>
                <a:effectLst/>
                <a:uFillTx/>
                <a:latin typeface="Arial"/>
              </a:rPr>
              <a:t>FORJA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894000" y="3006000"/>
            <a:ext cx="4068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lnSpc>
                <a:spcPct val="115000"/>
              </a:lnSpc>
            </a:pPr>
            <a:r>
              <a:rPr lang="en-US" sz="850" b="0" u="none" strike="noStrike">
                <a:solidFill>
                  <a:srgbClr val="526075"/>
                </a:solidFill>
                <a:effectLst/>
                <a:uFillTx/>
                <a:latin typeface="Arial"/>
              </a:rPr>
              <a:t>Representación didáctica de un uso prohibido; no es una versión del logo.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498000" y="3366000"/>
            <a:ext cx="4608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× No estirar, comprimir ni alterar proporciones.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498000" y="3762000"/>
            <a:ext cx="4608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× No cambiar colores ni crear combinaciones nuevas.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6498000" y="4158000"/>
            <a:ext cx="4608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× No sustituir el wordmark ni redibujar la geometría.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498000" y="4554000"/>
            <a:ext cx="4608000" cy="2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50" b="1" u="none" strike="noStrike">
                <a:solidFill>
                  <a:srgbClr val="10294B"/>
                </a:solidFill>
                <a:effectLst/>
                <a:uFillTx/>
                <a:latin typeface="Arial"/>
              </a:rPr>
              <a:t>× No aplicar sobre fondos que oculten la marca.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94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64800" cy="6858000"/>
          </a:xfrm>
          <a:prstGeom prst="rect">
            <a:avLst/>
          </a:prstGeom>
          <a:solidFill>
            <a:srgbClr val="D9363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04000" y="259200"/>
            <a:ext cx="2880000" cy="22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800" b="1" u="none" spc="119" strike="noStrike">
                <a:solidFill>
                  <a:srgbClr val="D93636"/>
                </a:solidFill>
                <a:effectLst/>
                <a:uFillTx/>
                <a:latin typeface="Arial"/>
              </a:rPr>
              <a:t>09 · PUESTA EN PRÁCTICA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04000" y="460800"/>
            <a:ext cx="10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Lista de implementación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F4F1EA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04000" y="972000"/>
            <a:ext cx="1044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Una aplicación está lista cuando la identidad, la jerarquía y la accesibilidad funcionan como un solo sistema.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04000" y="1530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044000" y="1512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Logo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880000" y="1530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Usar public/brand; mantener proporción, área libre y versión adecuada.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044000" y="1872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04000" y="2196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044000" y="2178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Color y tema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880000" y="2196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Aplicar tokens semánticos; respetar Claro, Oscuro y Sistema sin destellos.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1044000" y="2538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04000" y="2862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044000" y="2844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Tipografía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880000" y="2862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Usar Inter con la jerarquía definida y cifras tabulares en métricas.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1044000" y="3204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04000" y="3528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044000" y="3510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Componentes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880000" y="3528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Reservar Rojo Impulso para CTA primaria, decisión o desvío.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1044000" y="3870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04000" y="4194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044000" y="4176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Accesibilidad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880000" y="4194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Verificar contraste, foco visible, etiquetas y objetivos táctiles.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1044000" y="4536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04000" y="4860000"/>
            <a:ext cx="432000" cy="28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200" b="1" u="none" strike="noStrike">
                <a:solidFill>
                  <a:srgbClr val="D93636"/>
                </a:solidFill>
                <a:effectLst/>
                <a:uFillTx/>
                <a:latin typeface="Arial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044000" y="4842000"/>
            <a:ext cx="1620000" cy="33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Contenido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880000" y="4860000"/>
            <a:ext cx="8208000" cy="28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20000"/>
              </a:lnSpc>
            </a:pPr>
            <a:r>
              <a:rPr lang="en-US" sz="1150" b="0" u="none" strike="noStrike">
                <a:solidFill>
                  <a:srgbClr val="A7AFBA"/>
                </a:solidFill>
                <a:effectLst/>
                <a:uFillTx/>
                <a:latin typeface="Arial"/>
              </a:rPr>
              <a:t>Mantener una voz precisa, sobria y vinculada a evidencia real.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44000" y="5202000"/>
            <a:ext cx="10368000" cy="0"/>
          </a:xfrm>
          <a:prstGeom prst="line">
            <a:avLst/>
          </a:prstGeom>
          <a:ln w="9000">
            <a:solidFill>
              <a:srgbClr val="1C3B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504000" y="6462000"/>
            <a:ext cx="11178000" cy="0"/>
          </a:xfrm>
          <a:prstGeom prst="line">
            <a:avLst/>
          </a:prstGeom>
          <a:ln w="6480">
            <a:solidFill>
              <a:srgbClr val="A7A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04000" y="6523200"/>
            <a:ext cx="3600000" cy="212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</a:pPr>
            <a:r>
              <a:rPr lang="en-US" sz="750" b="1" u="none" spc="71" strike="noStrike">
                <a:solidFill>
                  <a:srgbClr val="F4F1EA"/>
                </a:solidFill>
                <a:effectLst/>
                <a:uFillTx/>
                <a:latin typeface="Arial"/>
              </a:rPr>
              <a:t>FORJA · MANUAL DE MARCA ·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1124000" y="6508800"/>
            <a:ext cx="558000" cy="22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15000"/>
              </a:lnSpc>
            </a:pPr>
            <a:r>
              <a:rPr lang="en-US" sz="850" b="1" u="none" strike="noStrike">
                <a:solidFill>
                  <a:srgbClr val="F4F1EA"/>
                </a:solidFill>
                <a:effectLst/>
                <a:uFillTx/>
                <a:latin typeface="Arial"/>
              </a:rPr>
              <a:t>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